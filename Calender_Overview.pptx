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Yu Gothic"/>
              </a:defRPr>
            </a:pPr>
            <a:r>
              <a:t>Calender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3E3FD"/>
                </a:solidFill>
                <a:latin typeface="Yu Gothic"/>
              </a:defRPr>
            </a:pPr>
            <a:r>
              <a:t>Dart 製シンプルスケジュール管理アプリ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4BBF8"/>
                </a:solidFill>
                <a:latin typeface="Yu Gothic"/>
              </a:defRPr>
            </a:pPr>
            <a:r>
              <a:t>月表示カレンダー + 週間授業スケジュール（大学生向け）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B4F8"/>
                </a:solidFill>
                <a:latin typeface="Yu Gothic"/>
              </a:defRPr>
            </a:pPr>
            <a:r>
              <a:t>kurosiko /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645920"/>
            <a:ext cx="2286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29264686200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04120" y="29264686200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0" y="29264686200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75251691000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04120" y="75251691000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0" y="75251691000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0" y="121238695800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04120" y="121238695800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07040" y="121238695800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470"/>
                </a:solidFill>
                <a:latin typeface="Yu Gothic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C2E"/>
                </a:solidFill>
                <a:latin typeface="Yu Gothic"/>
              </a:defRPr>
            </a:pPr>
            <a:r>
              <a:t>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Yu Gothic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C2E"/>
                </a:solidFill>
                <a:latin typeface="Yu Gothic"/>
              </a:defRPr>
            </a:pPr>
            <a:r>
              <a:t>プロジェクト概要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470"/>
                </a:solidFill>
                <a:latin typeface="Yu Gothic"/>
              </a:defRPr>
            </a:pPr>
            <a:r>
              <a:t>カレンダーアプリとしての全体像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65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C2E"/>
                </a:solidFill>
                <a:latin typeface="Yu Gothic"/>
              </a:defRPr>
            </a:pPr>
            <a:r>
              <a:t>技術スタック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470"/>
                </a:solidFill>
                <a:latin typeface="Yu Gothic"/>
              </a:defRPr>
            </a:pPr>
            <a:r>
              <a:t>Dart, CSS, IndexedDB, Nix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688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C2E"/>
                </a:solidFill>
                <a:latin typeface="Yu Gothic"/>
              </a:defRPr>
            </a:pPr>
            <a:r>
              <a:t>アーキテクチャ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470"/>
                </a:solidFill>
                <a:latin typeface="Yu Gothic"/>
              </a:defRPr>
            </a:pPr>
            <a:r>
              <a:t>2ファイル構成とデータの流れ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Yu Gothic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C2E"/>
                </a:solidFill>
                <a:latin typeface="Yu Gothic"/>
              </a:defRPr>
            </a:pPr>
            <a:r>
              <a:t>データモデル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470"/>
                </a:solidFill>
                <a:latin typeface="Yu Gothic"/>
              </a:defRPr>
            </a:pPr>
            <a:r>
              <a:t>ScheduleEvent / RecurringSchedule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Yu Gothic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C2E"/>
                </a:solidFill>
                <a:latin typeface="Yu Gothic"/>
              </a:defRPr>
            </a:pPr>
            <a:r>
              <a:t>UI 画面構成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470"/>
                </a:solidFill>
                <a:latin typeface="Yu Gothic"/>
              </a:defRPr>
            </a:pPr>
            <a:r>
              <a:t>月表示 + 週間授業 + ボトムシート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7763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Yu Gothic"/>
              </a:defRPr>
            </a:pPr>
            <a: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C2E"/>
                </a:solidFill>
                <a:latin typeface="Yu Gothic"/>
              </a:defRPr>
            </a:pPr>
            <a:r>
              <a:t>月表示の仕組み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2062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470"/>
                </a:solidFill>
                <a:latin typeface="Yu Gothic"/>
              </a:defRPr>
            </a:pPr>
            <a:r>
              <a:t>CSS Grid カレンダー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480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Yu Gothic"/>
              </a:defRPr>
            </a:pPr>
            <a: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C2E"/>
                </a:solidFill>
                <a:latin typeface="Yu Gothic"/>
              </a:defRPr>
            </a:pPr>
            <a:r>
              <a:t>タイムライン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470"/>
                </a:solidFill>
                <a:latin typeface="Yu Gothic"/>
              </a:defRPr>
            </a:pPr>
            <a:r>
              <a:t>ドラッグ操作による予定追加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83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Yu Gothic"/>
              </a:defRPr>
            </a:pPr>
            <a: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C2E"/>
                </a:solidFill>
                <a:latin typeface="Yu Gothic"/>
              </a:defRPr>
            </a:pPr>
            <a:r>
              <a:t>データ永続化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470"/>
                </a:solidFill>
                <a:latin typeface="Yu Gothic"/>
              </a:defRPr>
            </a:pPr>
            <a:r>
              <a:t>IndexedDB + JSONバックアップ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486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Yu Gothic"/>
              </a:defRPr>
            </a:pPr>
            <a: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C2E"/>
                </a:solidFill>
                <a:latin typeface="Yu Gothic"/>
              </a:defRPr>
            </a:pPr>
            <a:r>
              <a:t>ビルドパイプライン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470"/>
                </a:solidFill>
                <a:latin typeface="Yu Gothic"/>
              </a:defRPr>
            </a:pPr>
            <a:r>
              <a:t>Dart→JS→APK の流れ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989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Yu Gothic"/>
              </a:defRPr>
            </a:pPr>
            <a: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989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C2E"/>
                </a:solidFill>
                <a:latin typeface="Yu Gothic"/>
              </a:defRPr>
            </a:pPr>
            <a:r>
              <a:t>まとめ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470"/>
                </a:solidFill>
                <a:latin typeface="Yu Gothic"/>
              </a:defRPr>
            </a:pPr>
            <a:r>
              <a:t>プロジェクトの全体像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470"/>
                </a:solidFill>
                <a:latin typeface="Yu Gothi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C2E"/>
                </a:solidFill>
                <a:latin typeface="Yu Gothic"/>
              </a:defRPr>
            </a:pPr>
            <a:r>
              <a:t>プロジェクト概要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54864" cy="2194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Calender 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Dart で開発したシングルページ Web アプリケーション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大学生の時間割管理を目的に設計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月表示カレンダーと週間授業スケジュールの2画面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フレームワーク未使用、純粋な dart:html DOM 操作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ブラウザ単体で動作（PWA対応、スマホに追加可能）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54864" cy="219456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主な機能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月表示: カレンダー + 予定一覧（アジェンダ表示）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週間授業: 月〜金・1〜5限の時間割テーブル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タイムライン: 1日の時間軸上で予定を確認・追加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固定スケジュール: 毎週/第n週の定期予定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テーマ切替: Light / Dark / Auto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31920"/>
            <a:ext cx="10515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977640"/>
            <a:ext cx="54864" cy="21945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069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ファイル構成（全コード 約2,250行）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8056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lib/schedule.dart (169行) — データモデル: ScheduleEvent, RecurringSchedule, 予定自動生成ロジック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web/main.dart (2,087行) — UI全般: カレンダー, タイムライン, 時間割, 設定, 同期, IndexedDB操作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web/styles.css (2,064行) — スタイル: Light/Darkテーマ, レスポンシブ, アニメーション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web/index.html (42行) — HTMLテンプレート + LucideアイコンCDN読み込み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470"/>
                </a:solidFill>
                <a:latin typeface="Yu Gothi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C2E"/>
                </a:solidFill>
                <a:latin typeface="Yu Gothic"/>
              </a:defRPr>
            </a:pPr>
            <a:r>
              <a:t>技術スタック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383280" cy="22860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338328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Yu Gothic"/>
              </a:defRPr>
            </a:pPr>
            <a:r>
              <a:t>Dart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F6470"/>
                </a:solidFill>
                <a:latin typeface="Yu Gothic"/>
              </a:defRPr>
            </a:pPr>
            <a:r>
              <a:t>言語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C2E"/>
                </a:solidFill>
                <a:latin typeface="Yu Gothic"/>
              </a:defRPr>
            </a:pPr>
            <a:r>
              <a:t>Web用に JS へコンパイル</a:t>
            </a:r>
            <a:br/>
            <a:r>
              <a:t>SDK 3.11.6 (mise で管理)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3383280" cy="22860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3383280" cy="4572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9D58"/>
                </a:solidFill>
                <a:latin typeface="Yu Gothic"/>
              </a:defRPr>
            </a:pPr>
            <a:r>
              <a:t>IndexedDB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011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F6470"/>
                </a:solidFill>
                <a:latin typeface="Yu Gothic"/>
              </a:defRPr>
            </a:pPr>
            <a:r>
              <a:t>データ保存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77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C2E"/>
                </a:solidFill>
                <a:latin typeface="Yu Gothic"/>
              </a:defRPr>
            </a:pPr>
            <a:r>
              <a:t>ブラウザ内蔵DB</a:t>
            </a:r>
            <a:br/>
            <a:r>
              <a:t>アプリ終了後もデータ保持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383280" cy="22860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383280" cy="457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B47BC"/>
                </a:solidFill>
                <a:latin typeface="Yu Gothic"/>
              </a:defRPr>
            </a:pPr>
            <a:r>
              <a:t>CSS Custom Props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0116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F6470"/>
                </a:solidFill>
                <a:latin typeface="Yu Gothic"/>
              </a:defRPr>
            </a:pPr>
            <a:r>
              <a:t>スタイル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77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C2E"/>
                </a:solidFill>
                <a:latin typeface="Yu Gothic"/>
              </a:defRPr>
            </a:pPr>
            <a:r>
              <a:t>Light/Dark/Auto テーマ</a:t>
            </a:r>
            <a:br/>
            <a:r>
              <a:t>レスポンシブ (360px〜)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31920"/>
            <a:ext cx="3383280" cy="22860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931920"/>
            <a:ext cx="3383280" cy="45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114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B400"/>
                </a:solidFill>
                <a:latin typeface="Yu Gothic"/>
              </a:defRPr>
            </a:pPr>
            <a:r>
              <a:t>Lucide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572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F6470"/>
                </a:solidFill>
                <a:latin typeface="Yu Gothic"/>
              </a:defRPr>
            </a:pPr>
            <a:r>
              <a:t>アイコン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937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C2E"/>
                </a:solidFill>
                <a:latin typeface="Yu Gothic"/>
              </a:defRPr>
            </a:pPr>
            <a:r>
              <a:t>SVG アイコンライブラリ</a:t>
            </a:r>
            <a:br/>
            <a:r>
              <a:t>CDN 経由で読み込み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931920"/>
            <a:ext cx="3383280" cy="22860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931920"/>
            <a:ext cx="3383280" cy="45720"/>
          </a:xfrm>
          <a:prstGeom prst="rect">
            <a:avLst/>
          </a:prstGeom>
          <a:solidFill>
            <a:srgbClr val="062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4114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2E6F"/>
                </a:solidFill>
                <a:latin typeface="Yu Gothic"/>
              </a:defRPr>
            </a:pPr>
            <a:r>
              <a:t>Nix Flake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572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F6470"/>
                </a:solidFill>
                <a:latin typeface="Yu Gothic"/>
              </a:defRPr>
            </a:pPr>
            <a:r>
              <a:t>ビルド/環境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937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C2E"/>
                </a:solidFill>
                <a:latin typeface="Yu Gothic"/>
              </a:defRPr>
            </a:pPr>
            <a:r>
              <a:t>再現可能な開発環境</a:t>
            </a:r>
            <a:br/>
            <a:r>
              <a:t>nix build / nix run .#apk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931920"/>
            <a:ext cx="3383280" cy="22860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3931920"/>
            <a:ext cx="3383280" cy="45720"/>
          </a:xfrm>
          <a:prstGeom prst="rect">
            <a:avLst/>
          </a:prstGeom>
          <a:solidFill>
            <a:srgbClr val="5F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4114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F6470"/>
                </a:solidFill>
                <a:latin typeface="Yu Gothic"/>
              </a:defRPr>
            </a:pPr>
            <a:r>
              <a:t>Gradle + WebView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572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F6470"/>
                </a:solidFill>
                <a:latin typeface="Yu Gothic"/>
              </a:defRPr>
            </a:pPr>
            <a:r>
              <a:t>APK 出力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937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C2E"/>
                </a:solidFill>
                <a:latin typeface="Yu Gothic"/>
              </a:defRPr>
            </a:pPr>
            <a:r>
              <a:t>Android WebView ラッパー</a:t>
            </a:r>
            <a:br/>
            <a:r>
              <a:t>Web 資産を assets に配置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470"/>
                </a:solidFill>
                <a:latin typeface="Yu Gothi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C2E"/>
                </a:solidFill>
                <a:latin typeface="Yu Gothic"/>
              </a:defRPr>
            </a:pPr>
            <a:r>
              <a:t>アーキテクチャ全体像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383280" cy="48463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338328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Yu Gothic"/>
              </a:defRPr>
            </a:pPr>
            <a:r>
              <a:t>データモデル</a:t>
            </a:r>
            <a:br/>
            <a:r>
              <a:t>(169行)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3774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ScheduleEvent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title, date, endDate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weekday, period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icon, note, origin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RecurringSchedule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weekday, hour, minute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weekOfMonth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generateRecurringEvents()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→ 月ごとに自動生成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3383280" cy="48463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3383280" cy="4572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5544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D58"/>
                </a:solidFill>
                <a:latin typeface="Yu Gothic"/>
              </a:defRPr>
            </a:pPr>
            <a:r>
              <a:t>UI ロジック</a:t>
            </a:r>
            <a:br/>
            <a:r>
              <a:t>(2,087行)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3774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月表示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カレンダーグリッド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予定一覧（アジェンダ）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タイムライン（日別詳細）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週間授業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時間割テーブル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授業追加・編集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設定系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固定スケジュール設定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同期・バックアップ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テーマ切替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スワイプ操作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383280" cy="484632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383280" cy="457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5544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47BC"/>
                </a:solidFill>
                <a:latin typeface="Yu Gothic"/>
              </a:defRPr>
            </a:pPr>
            <a:r>
              <a:t>永続化層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3774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IndexedDB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CalendarAppDB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3つの Object Store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monthly_events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class_schedule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recurring_schedules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バックアップ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Cloud API (POST/GET)</a:t>
            </a:r>
          </a:p>
          <a:p>
            <a:pPr>
              <a:spcAft>
                <a:spcPts val="600"/>
              </a:spcAft>
              <a:defRPr sz="1200">
                <a:solidFill>
                  <a:srgbClr val="1A1C2E"/>
                </a:solidFill>
                <a:latin typeface="Yu Gothic"/>
              </a:defRPr>
            </a:pPr>
            <a:r>
              <a:t>  JSON File (Export/Import)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389120" y="3200400"/>
            <a:ext cx="365760" cy="365760"/>
          </a:xfrm>
          <a:prstGeom prst="rightArrow">
            <a:avLst/>
          </a:prstGeom>
          <a:solidFill>
            <a:srgbClr val="5F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046720" y="3200400"/>
            <a:ext cx="365760" cy="365760"/>
          </a:xfrm>
          <a:prstGeom prst="rightArrow">
            <a:avLst/>
          </a:prstGeom>
          <a:solidFill>
            <a:srgbClr val="5F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470"/>
                </a:solidFill>
                <a:latin typeface="Yu Gothic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C2E"/>
                </a:solidFill>
                <a:latin typeface="Yu Gothic"/>
              </a:defRPr>
            </a:pPr>
            <a:r>
              <a:t>データモデル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50292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54864" cy="26517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ScheduleEvent — ふつうの予定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title:       予定のタイトル（例: 友人と食事）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description: 詳細説明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date:        開始日時 (DateTime?)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endDate:     終了日時（時間範囲指定が可能）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weekday:     曜日 1=月〜7=日（授業用）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period:      時限 1〜5限（授業用）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icon:        絵文字アイコン（例: 🍴）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note:        自由メモ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origin:      生成元の RecurringSchedule への参照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54864" cy="265176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RecurringSchedule — くりかえし予定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title:       予定のタイトル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weekday:     曜日（1=月〜7=日）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hour / minute: 開始時刻（デフォルト 8:00）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weekOfMonth: 第n週 (null=毎週, 1=第1週〜4=第4週)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icon:        絵文字アイコン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enabled:     ON/OFF 切り替え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note:        メモ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例: {title:"線形代数", weekday:1, period:3}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    → 毎週月曜3限に予定を自動生成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89120"/>
            <a:ext cx="105156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434840"/>
            <a:ext cx="54864" cy="173736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generateRecurringEvents(year, month) の動作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7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1. その月の日数を調べる（28〜31日）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2. recurringSchedules の各項目に対して、その曜日と週指定に合う全日付を計算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3. 各日付に ScheduleEvent を作成し、origin に元の RecurringSchedule への参照を設定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4. できた全イベントのリストを返す → カレンダー表示のたびに毎回呼ばれる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470"/>
                </a:solidFill>
                <a:latin typeface="Yu Gothi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C2E"/>
                </a:solidFill>
                <a:latin typeface="Yu Gothic"/>
              </a:defRPr>
            </a:pPr>
            <a:r>
              <a:t>UI: 月表示（renderMonthView）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5029200" cy="4114800"/>
          </a:xfrm>
          <a:prstGeom prst="roundRect">
            <a:avLst/>
          </a:prstGeom>
          <a:solidFill>
            <a:srgbClr val="E3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2E6F"/>
                </a:solidFill>
                <a:latin typeface="Yu Gothic"/>
              </a:defRPr>
            </a:pPr>
            <a:r>
              <a:t>📅 Calendar Section (height: 100dvh)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920240"/>
            <a:ext cx="457200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C2E"/>
                </a:solidFill>
                <a:latin typeface="Yu Gothic"/>
              </a:defRPr>
            </a:pPr>
            <a:r>
              <a:t>◀  2026年 7月  ▶  ⚙  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651760"/>
            <a:ext cx="45720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470"/>
                </a:solidFill>
                <a:latin typeface="Yu Gothic"/>
              </a:defRPr>
            </a:pPr>
            <a:r>
              <a:t>Calendar Grid (7列×6行)</a:t>
            </a:r>
            <a:br/>
            <a:br/>
            <a:r>
              <a:t>月 火 水 木 金 土 日</a:t>
            </a:r>
            <a:br/>
            <a:r>
              <a:t> 1  2  3  4  5  6  7</a:t>
            </a:r>
            <a:br/>
            <a:r>
              <a:t> 8  9 10 11 12 13 14</a:t>
            </a:r>
            <a:br/>
            <a:r>
              <a:t>...</a:t>
            </a:r>
            <a:br/>
            <a:br/>
            <a:r>
              <a:t>CSS Grid: repeat(7, 1fr)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7C47"/>
                </a:solidFill>
                <a:latin typeface="Yu Gothic"/>
              </a:defRPr>
            </a:pPr>
            <a:r>
              <a:t>📋 Schedule Section (scroll)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920240"/>
            <a:ext cx="4572000" cy="3383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011680"/>
            <a:ext cx="4114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470"/>
                </a:solidFill>
                <a:latin typeface="Yu Gothic"/>
              </a:defRPr>
            </a:pPr>
            <a:r>
              <a:t>スケジュール一覧</a:t>
            </a:r>
            <a:br/>
            <a:br/>
            <a:r>
              <a:t>7/7 (月) ─┬ 9:00 線形代数</a:t>
            </a:r>
            <a:br/>
            <a:r>
              <a:t>         └ 13:00 英語</a:t>
            </a:r>
            <a:br/>
            <a:br/>
            <a:r>
              <a:t>7/8 (火) ─┬ 10:30 ゼミ</a:t>
            </a:r>
            <a:br/>
            <a:r>
              <a:t>          └ 19:00 夕食</a:t>
            </a:r>
            <a:br/>
            <a:br/>
            <a:r>
              <a:t>7/11 (金) ─ 15:00 面談</a:t>
            </a:r>
            <a:br/>
            <a:br/>
            <a:r>
              <a:t>（過去の予定は非表示）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669280"/>
            <a:ext cx="105156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5715000"/>
            <a:ext cx="54864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月表示のポイント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6217920"/>
            <a:ext cx="100584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Calendar Section は height: 100dvh で画面全体を占有 / Grid は flex:1 で残りを均等分割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470"/>
                </a:solidFill>
                <a:latin typeface="Yu Gothi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C2E"/>
                </a:solidFill>
                <a:latin typeface="Yu Gothic"/>
              </a:defRPr>
            </a:pPr>
            <a:r>
              <a:t>UI: タイムライン（renderDayTimeline）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54864" cy="2194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タイムラインの仕組み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時間軸: 0:00 〜 23:00（hourHeight = 40px）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各時間にグリッド線 + 時間ラベル（00:00, 01:00, ...）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予定ブロックを絶対配置で描画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  top = 開始時刻の分数 / 60 × hourHeight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  height = 分数の長さ / 60 × hourHeight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例: 9:30〜11:00 → top=380px, height=60px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54864" cy="219456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ドラッグで予定追加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timeline-interaction-overlay を重ねて操作を検出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onMouseDown  → 開始時刻を記録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onMouseMove  → 選択範囲を青くハイライト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onMouseUp    → 予定追加ダイアログ表示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15分単位にスナップ（位置を丸める）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クリックだけ → 自動で1時間の範囲を作る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31920"/>
            <a:ext cx="105156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977640"/>
            <a:ext cx="54864" cy="24688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069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イベントカードの色分け（getEventCardClass）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805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タイトルに「食事」「夕食」       → bg-food     (オレンジ系)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タイトルに「フライト」「旅行」    → bg-flight   (青系)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タイトルに「アルバイト」「シフト」→ color-orange (オレンジ)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タイトルに「ゼミ」「レポート」    → color-purple (紫)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タイトルに「英語」「数学」        → color-green  (緑)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上記いずれにも該当しない           → color-blue   (青・デフォルト)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470"/>
                </a:solidFill>
                <a:latin typeface="Yu Gothic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C2E"/>
                </a:solidFill>
                <a:latin typeface="Yu Gothic"/>
              </a:defRPr>
            </a:pPr>
            <a:r>
              <a:t>データ永続化とバックアップ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54864" cy="21945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IndexedDB — DatabaseService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DB名: CalendarAppDB (version 1)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3つの Object Store を管理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  • monthly_events — 月表示用手動予定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  • class_schedule — 週間授業の予定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  • recurring_schedules — 固定スケジュール設定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保存: clear() → 全件 add() の全置換方式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読込: アプリ起動時に openCursor で全件取得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保存タイミング: 追加・編集・削除のたびに即時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54864" cy="219456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Cloud Sync (showSyncDialog)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同期先 API URL を入力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保存: POST で JSON データを送信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復元: GET でデータを取得し上書き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API の認証等は利用者側で用意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31920"/>
            <a:ext cx="105156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977640"/>
            <a:ext cx="54864" cy="155448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069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JSON ファイルバックアップ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80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エクスポート: 3つのデータを1つのJSONにまとめ、Blob を作ってダウンロード (calendar_backup.json)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インポート:   FileReader で読み込み → jsonDecode → applyImportData() でリストに反映 → IndexedDB 保存 → 画面更新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60720"/>
            <a:ext cx="1051560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5806440"/>
            <a:ext cx="54864" cy="7315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897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データの流れ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6309360"/>
            <a:ext cx="100584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app起動 → IndexedDB 読込 → 3つのグローバルリスト → UI描画  /  編集 → リスト更新 → IndexedDB 保存 → UI再描画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470"/>
                </a:solidFill>
                <a:latin typeface="Yu Gothic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C2E"/>
                </a:solidFill>
                <a:latin typeface="Yu Gothic"/>
              </a:defRPr>
            </a:pPr>
            <a:r>
              <a:t>ビルドパイプライン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515600" cy="13716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Yu Gothic"/>
              </a:defRPr>
            </a:pPr>
            <a:r>
              <a:t>🌐 Web ビルド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C2E"/>
                </a:solidFill>
                <a:latin typeface="Yu Gothic"/>
              </a:defRPr>
            </a:pPr>
            <a:r>
              <a:t>Dart ソース → dart compile js → main.dart.js → web/ 一式を静的ホスティング</a:t>
            </a:r>
            <a:br/>
            <a:r>
              <a:t>開発時: bun run dev → nodemon(Dart監視) + browser-sync(ライブリロード) の並列起動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17520"/>
            <a:ext cx="10515600" cy="13716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D58"/>
                </a:solidFill>
                <a:latin typeface="Yu Gothic"/>
              </a:defRPr>
            </a:pPr>
            <a:r>
              <a:t>📱 APK ビルド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C2E"/>
                </a:solidFill>
                <a:latin typeface="Yu Gothic"/>
              </a:defRPr>
            </a:pPr>
            <a:r>
              <a:t>1. dart compile js で web 資産を生成</a:t>
            </a:r>
            <a:br/>
            <a:r>
              <a:t>2. web/ 一式を android/app/src/main/assets/ にコピー</a:t>
            </a:r>
            <a:br/>
            <a:r>
              <a:t>3. ANDROID_SDK_ROOT を設定して gradle assembleDebug 実行 → calender.apk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10515600" cy="9144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B47BC"/>
                </a:solidFill>
                <a:latin typeface="Yu Gothic"/>
              </a:defRPr>
            </a:pPr>
            <a:r>
              <a:t>❄ Nix Flake が提供するもの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C2E"/>
                </a:solidFill>
                <a:latin typeface="Yu Gothic"/>
              </a:defRPr>
            </a:pPr>
            <a:r>
              <a:t>devShells.default（Dart, Bun, Node.js, Java, Gradle, Android SDK） | packages.default（ビルド済みweb/） | apps.apk / apps.serve / apps.dev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60720"/>
            <a:ext cx="3200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5806440"/>
            <a:ext cx="54864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89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配信先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6309360"/>
            <a:ext cx="27432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ブラウザ (静的ホスティング)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PWA (スマホに追加)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760720"/>
            <a:ext cx="3200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5806440"/>
            <a:ext cx="54864" cy="64008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589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APK 配布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6309360"/>
            <a:ext cx="27432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Android WebView ラッパー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Gradle でデバッグビルド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5760720"/>
            <a:ext cx="320040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5806440"/>
            <a:ext cx="54864" cy="6400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589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開発環境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309360"/>
            <a:ext cx="27432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Nix flake (再現可能)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mise (ツールバージョン管理)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470"/>
                </a:solidFill>
                <a:latin typeface="Yu Gothi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C2E"/>
                </a:solidFill>
                <a:latin typeface="Yu Gothic"/>
              </a:defRPr>
            </a:pPr>
            <a:r>
              <a:t>画面構成とユーザーフロー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5029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54864" cy="2468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タブ1: 月表示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Calendar Grid (画面全体) + 予定一覧 (下スクロール)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← → ボタン or スワイプで月移動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セルクリック → ボトムシートで日付詳細表示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  タイムライン（0-23時）で時間を視覚確認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  ドラッグで予定をクイック追加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  カードクリックで予定編集・メモ追加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54864" cy="246888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タブ2: 週間授業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時間割テーブル (5限×5曜日)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空きコマ → +ボタン → 授業追加ダイアログ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登録済み授業 → クリック → 編集ダイアログ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授業名・教室・メモを編集可能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削除ボタンで授業を時間割から除去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0624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251960"/>
            <a:ext cx="54864" cy="219456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設定ダイアログ（⚙）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固定スケジュールの一覧と編集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曜日・開始時刻（iOS風ホイールピッカー）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週指定（毎週 / 第1〜4週）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「アイコンのみ表示」チェックボックス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新規固定スケジュールの追加フォーム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削除ボタン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20624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251960"/>
            <a:ext cx="54864" cy="21945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C2E"/>
                </a:solidFill>
                <a:latin typeface="Yu Gothic"/>
              </a:defRPr>
            </a:pPr>
            <a:r>
              <a:t>同期・バックアップ（☁）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7548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Cloud Sync: API URLを指定してPOST/GET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File Backup: JSONのエクスポート/インポート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3つのデータストアを一括して扱う</a:t>
            </a:r>
          </a:p>
          <a:p>
            <a:pPr>
              <a:spcAft>
                <a:spcPts val="600"/>
              </a:spcAft>
              <a:defRPr sz="1200">
                <a:solidFill>
                  <a:srgbClr val="5F6470"/>
                </a:solidFill>
                <a:latin typeface="Yu Gothic"/>
              </a:defRPr>
            </a:pPr>
            <a:r>
              <a:t>インポート後は自動でIndexedDB保存 + 再描画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470"/>
                </a:solidFill>
                <a:latin typeface="Yu Gothi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C2E"/>
                </a:solidFill>
                <a:latin typeface="Yu Gothic"/>
              </a:defRPr>
            </a:pPr>
            <a:r>
              <a:t>特筆すべき技術的ポイント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515600" cy="77724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54864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44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73E8"/>
                </a:solidFill>
                <a:latin typeface="Yu Gothic"/>
              </a:defRPr>
            </a:pPr>
            <a:r>
              <a:t>フレームワーク不使用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5564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470"/>
                </a:solidFill>
                <a:latin typeface="Yu Gothic"/>
              </a:defRPr>
            </a:pPr>
            <a:r>
              <a:t>React, Vue, Flutter 等を一切使わず、dart:html の DOM API のみで SPA を構築。全コードが自明で依存ゼロ。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10515600" cy="77724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240280"/>
            <a:ext cx="54864" cy="77724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13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9D58"/>
                </a:solidFill>
                <a:latin typeface="Yu Gothic"/>
              </a:defRPr>
            </a:pPr>
            <a:r>
              <a:t>固定スケジュールの動的生成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2432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470"/>
                </a:solidFill>
                <a:latin typeface="Yu Gothic"/>
              </a:defRPr>
            </a:pPr>
            <a:r>
              <a:t>RecurringSchedule から月ごとに ScheduleEvent を自動生成。origin 参照で生成元への変更反映を実現。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08960"/>
            <a:ext cx="10515600" cy="77724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108960"/>
            <a:ext cx="54864" cy="7772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1821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B47BC"/>
                </a:solidFill>
                <a:latin typeface="Yu Gothic"/>
              </a:defRPr>
            </a:pPr>
            <a:r>
              <a:t>HTML/CSSのみのホイールピッカー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49300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470"/>
                </a:solidFill>
                <a:latin typeface="Yu Gothic"/>
              </a:defRPr>
            </a:pPr>
            <a:r>
              <a:t>overflow-y: scroll + scrollend イベントでiOS風ピッカーを実装。外部ライブラリ不要。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77639"/>
            <a:ext cx="10515600" cy="77724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977639"/>
            <a:ext cx="54864" cy="77724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0507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B400"/>
                </a:solidFill>
                <a:latin typeface="Yu Gothic"/>
              </a:defRPr>
            </a:pPr>
            <a:r>
              <a:t>タイムラインドラッグ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361687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470"/>
                </a:solidFill>
                <a:latin typeface="Yu Gothic"/>
              </a:defRPr>
            </a:pPr>
            <a:r>
              <a:t>overlay要素 + MouseEvent でドラッグ範囲選択。15分単位スナップ + 開始位置マーカーで直感的操作。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46320"/>
            <a:ext cx="10515600" cy="77724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846320"/>
            <a:ext cx="54864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919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73E8"/>
                </a:solidFill>
                <a:latin typeface="Yu Gothic"/>
              </a:defRPr>
            </a:pPr>
            <a:r>
              <a:t>CSS変数によるテーマ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3036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470"/>
                </a:solidFill>
                <a:latin typeface="Yu Gothic"/>
              </a:defRPr>
            </a:pPr>
            <a:r>
              <a:t>:root と [data-theme="dark"] で全色を変数管理。prefers-color-scheme メディアクエリで Auto 対応。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715000"/>
            <a:ext cx="10515600" cy="77724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5715000"/>
            <a:ext cx="54864" cy="777240"/>
          </a:xfrm>
          <a:prstGeom prst="rect">
            <a:avLst/>
          </a:prstGeom>
          <a:solidFill>
            <a:srgbClr val="062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788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2E6F"/>
                </a:solidFill>
                <a:latin typeface="Yu Gothic"/>
              </a:defRPr>
            </a:pPr>
            <a:r>
              <a:t>Nix による再現可能ビルド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609904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470"/>
                </a:solidFill>
                <a:latin typeface="Yu Gothic"/>
              </a:defRPr>
            </a:pPr>
            <a:r>
              <a:t>flake.nix で Dart SDK, Android SDK, Gradle を含む完全な開発環境を宣言的に定義。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470"/>
                </a:solidFill>
                <a:latin typeface="Yu Gothi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Yu Gothic"/>
              </a:defRPr>
            </a:pPr>
            <a:r>
              <a:t>まとめ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260604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3FD"/>
                </a:solidFill>
                <a:latin typeface="Yu Gothic"/>
              </a:defRPr>
            </a:pPr>
            <a:r>
              <a:t>Dart だけで作った大学生向けスケジュール管理アプリ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3108959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0632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3FD"/>
                </a:solidFill>
                <a:latin typeface="Yu Gothic"/>
              </a:defRPr>
            </a:pPr>
            <a:r>
              <a:t>2ファイル・約2,250行のミニマルな設計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61188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3FD"/>
                </a:solidFill>
                <a:latin typeface="Yu Gothic"/>
              </a:defRPr>
            </a:pPr>
            <a:r>
              <a:t>月表示カレンダー + 週間授業時間割の2画面構成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411480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3FD"/>
                </a:solidFill>
                <a:latin typeface="Yu Gothic"/>
              </a:defRPr>
            </a:pPr>
            <a:r>
              <a:t>固定スケジュールの自動生成で定期予定を効率的に管理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46177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3FD"/>
                </a:solidFill>
                <a:latin typeface="Yu Gothic"/>
              </a:defRPr>
            </a:pPr>
            <a:r>
              <a:t>タイムラインドラッグで直感的な予定追加</a:t>
            </a:r>
          </a:p>
        </p:txBody>
      </p:sp>
      <p:sp>
        <p:nvSpPr>
          <p:cNvPr id="13" name="Oval 12"/>
          <p:cNvSpPr/>
          <p:nvPr/>
        </p:nvSpPr>
        <p:spPr>
          <a:xfrm>
            <a:off x="1828800" y="512064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5074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3FD"/>
                </a:solidFill>
                <a:latin typeface="Yu Gothic"/>
              </a:defRPr>
            </a:pPr>
            <a:r>
              <a:t>IndexedDB 永続化 + JSON/Cloud バックアップ</a:t>
            </a:r>
          </a:p>
        </p:txBody>
      </p:sp>
      <p:sp>
        <p:nvSpPr>
          <p:cNvPr id="15" name="Oval 14"/>
          <p:cNvSpPr/>
          <p:nvPr/>
        </p:nvSpPr>
        <p:spPr>
          <a:xfrm>
            <a:off x="1828800" y="562356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5577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3FD"/>
                </a:solidFill>
                <a:latin typeface="Yu Gothic"/>
              </a:defRPr>
            </a:pPr>
            <a:r>
              <a:t>Nix flake による再現可能な開発環境とAPKビルド</a:t>
            </a:r>
          </a:p>
        </p:txBody>
      </p:sp>
      <p:sp>
        <p:nvSpPr>
          <p:cNvPr id="17" name="Oval 16"/>
          <p:cNvSpPr/>
          <p:nvPr/>
        </p:nvSpPr>
        <p:spPr>
          <a:xfrm>
            <a:off x="1828800" y="612648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6080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3E3FD"/>
                </a:solidFill>
                <a:latin typeface="Yu Gothic"/>
              </a:defRPr>
            </a:pPr>
            <a:r>
              <a:t>フレームワーク未使用・依存ゼロの純粋 DOM 操作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AB4F8"/>
                </a:solidFill>
                <a:latin typeface="Yu Gothic"/>
              </a:defRPr>
            </a:pPr>
            <a:r>
              <a:t>https://github.com/kurosiko/calender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470"/>
                </a:solidFill>
                <a:latin typeface="Yu Gothi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